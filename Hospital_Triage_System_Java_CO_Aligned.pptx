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1" r:id="rId4"/>
    <p:sldId id="258" r:id="rId5"/>
    <p:sldId id="259" r:id="rId6"/>
    <p:sldId id="260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80BE3C-B0B0-4CFB-816B-712D973A64E0}" v="3" dt="2026-09-15T10:05:24.2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SP MADHURI" userId="d5baabbced009fe2" providerId="LiveId" clId="{5C1935DC-7BAA-4BFD-8AE9-FAF66D151093}"/>
    <pc:docChg chg="undo custSel addSld modSld sldOrd">
      <pc:chgData name="TSP MADHURI" userId="d5baabbced009fe2" providerId="LiveId" clId="{5C1935DC-7BAA-4BFD-8AE9-FAF66D151093}" dt="2026-09-15T10:01:58.231" v="188" actId="22"/>
      <pc:docMkLst>
        <pc:docMk/>
      </pc:docMkLst>
      <pc:sldChg chg="addSp delSp modSp mod">
        <pc:chgData name="TSP MADHURI" userId="d5baabbced009fe2" providerId="LiveId" clId="{5C1935DC-7BAA-4BFD-8AE9-FAF66D151093}" dt="2026-09-15T10:01:58.231" v="188" actId="22"/>
        <pc:sldMkLst>
          <pc:docMk/>
          <pc:sldMk cId="1570750093" sldId="256"/>
        </pc:sldMkLst>
        <pc:spChg chg="mod">
          <ac:chgData name="TSP MADHURI" userId="d5baabbced009fe2" providerId="LiveId" clId="{5C1935DC-7BAA-4BFD-8AE9-FAF66D151093}" dt="2026-09-15T09:58:58.254" v="62" actId="20577"/>
          <ac:spMkLst>
            <pc:docMk/>
            <pc:sldMk cId="1570750093" sldId="256"/>
            <ac:spMk id="2" creationId="{81C0CCFF-527E-4AC9-A45F-A8196F49E0C3}"/>
          </ac:spMkLst>
        </pc:spChg>
        <pc:spChg chg="mod">
          <ac:chgData name="TSP MADHURI" userId="d5baabbced009fe2" providerId="LiveId" clId="{5C1935DC-7BAA-4BFD-8AE9-FAF66D151093}" dt="2026-09-15T09:59:08.667" v="65"/>
          <ac:spMkLst>
            <pc:docMk/>
            <pc:sldMk cId="1570750093" sldId="256"/>
            <ac:spMk id="3" creationId="{A452AC95-AA7D-A76A-037F-6B2DB5A27E48}"/>
          </ac:spMkLst>
        </pc:spChg>
        <pc:spChg chg="add del">
          <ac:chgData name="TSP MADHURI" userId="d5baabbced009fe2" providerId="LiveId" clId="{5C1935DC-7BAA-4BFD-8AE9-FAF66D151093}" dt="2026-09-15T09:58:23.995" v="1" actId="22"/>
          <ac:spMkLst>
            <pc:docMk/>
            <pc:sldMk cId="1570750093" sldId="256"/>
            <ac:spMk id="5" creationId="{16E58A68-9A46-73D5-6ACA-6EBDA713DE38}"/>
          </ac:spMkLst>
        </pc:spChg>
        <pc:spChg chg="add del mod">
          <ac:chgData name="TSP MADHURI" userId="d5baabbced009fe2" providerId="LiveId" clId="{5C1935DC-7BAA-4BFD-8AE9-FAF66D151093}" dt="2026-09-15T10:01:58.231" v="188" actId="22"/>
          <ac:spMkLst>
            <pc:docMk/>
            <pc:sldMk cId="1570750093" sldId="256"/>
            <ac:spMk id="7" creationId="{195ACB3F-808A-0A7A-B8BD-A70C42ECC1E5}"/>
          </ac:spMkLst>
        </pc:spChg>
      </pc:sldChg>
      <pc:sldChg chg="modSp new mod">
        <pc:chgData name="TSP MADHURI" userId="d5baabbced009fe2" providerId="LiveId" clId="{5C1935DC-7BAA-4BFD-8AE9-FAF66D151093}" dt="2026-09-15T09:59:16.247" v="74" actId="20577"/>
        <pc:sldMkLst>
          <pc:docMk/>
          <pc:sldMk cId="676338040" sldId="257"/>
        </pc:sldMkLst>
        <pc:spChg chg="mod">
          <ac:chgData name="TSP MADHURI" userId="d5baabbced009fe2" providerId="LiveId" clId="{5C1935DC-7BAA-4BFD-8AE9-FAF66D151093}" dt="2026-09-15T09:59:16.247" v="74" actId="20577"/>
          <ac:spMkLst>
            <pc:docMk/>
            <pc:sldMk cId="676338040" sldId="257"/>
            <ac:spMk id="2" creationId="{EDE71AF3-F02C-0F4C-0929-57F8B753540D}"/>
          </ac:spMkLst>
        </pc:spChg>
      </pc:sldChg>
      <pc:sldChg chg="modSp new mod">
        <pc:chgData name="TSP MADHURI" userId="d5baabbced009fe2" providerId="LiveId" clId="{5C1935DC-7BAA-4BFD-8AE9-FAF66D151093}" dt="2026-09-15T09:59:25.529" v="86" actId="20577"/>
        <pc:sldMkLst>
          <pc:docMk/>
          <pc:sldMk cId="4104242747" sldId="258"/>
        </pc:sldMkLst>
        <pc:spChg chg="mod">
          <ac:chgData name="TSP MADHURI" userId="d5baabbced009fe2" providerId="LiveId" clId="{5C1935DC-7BAA-4BFD-8AE9-FAF66D151093}" dt="2026-09-15T09:59:25.529" v="86" actId="20577"/>
          <ac:spMkLst>
            <pc:docMk/>
            <pc:sldMk cId="4104242747" sldId="258"/>
            <ac:spMk id="2" creationId="{8E154CC5-4FD5-611A-4481-E878E281E2CD}"/>
          </ac:spMkLst>
        </pc:spChg>
      </pc:sldChg>
      <pc:sldChg chg="modSp new mod">
        <pc:chgData name="TSP MADHURI" userId="d5baabbced009fe2" providerId="LiveId" clId="{5C1935DC-7BAA-4BFD-8AE9-FAF66D151093}" dt="2026-09-15T09:59:36.234" v="101" actId="20577"/>
        <pc:sldMkLst>
          <pc:docMk/>
          <pc:sldMk cId="4178111765" sldId="259"/>
        </pc:sldMkLst>
        <pc:spChg chg="mod">
          <ac:chgData name="TSP MADHURI" userId="d5baabbced009fe2" providerId="LiveId" clId="{5C1935DC-7BAA-4BFD-8AE9-FAF66D151093}" dt="2026-09-15T09:59:36.234" v="101" actId="20577"/>
          <ac:spMkLst>
            <pc:docMk/>
            <pc:sldMk cId="4178111765" sldId="259"/>
            <ac:spMk id="2" creationId="{3954FDF4-A21D-11D6-CA7A-382058E2F499}"/>
          </ac:spMkLst>
        </pc:spChg>
      </pc:sldChg>
      <pc:sldChg chg="modSp new mod">
        <pc:chgData name="TSP MADHURI" userId="d5baabbced009fe2" providerId="LiveId" clId="{5C1935DC-7BAA-4BFD-8AE9-FAF66D151093}" dt="2026-09-15T09:59:46.562" v="113" actId="20577"/>
        <pc:sldMkLst>
          <pc:docMk/>
          <pc:sldMk cId="1869875426" sldId="260"/>
        </pc:sldMkLst>
        <pc:spChg chg="mod">
          <ac:chgData name="TSP MADHURI" userId="d5baabbced009fe2" providerId="LiveId" clId="{5C1935DC-7BAA-4BFD-8AE9-FAF66D151093}" dt="2026-09-15T09:59:46.562" v="113" actId="20577"/>
          <ac:spMkLst>
            <pc:docMk/>
            <pc:sldMk cId="1869875426" sldId="260"/>
            <ac:spMk id="2" creationId="{C73BDDFB-DFEC-7A21-D889-17965A225820}"/>
          </ac:spMkLst>
        </pc:spChg>
      </pc:sldChg>
      <pc:sldChg chg="modSp new mod ord">
        <pc:chgData name="TSP MADHURI" userId="d5baabbced009fe2" providerId="LiveId" clId="{5C1935DC-7BAA-4BFD-8AE9-FAF66D151093}" dt="2026-09-15T10:00:14.865" v="149"/>
        <pc:sldMkLst>
          <pc:docMk/>
          <pc:sldMk cId="3980090555" sldId="261"/>
        </pc:sldMkLst>
        <pc:spChg chg="mod">
          <ac:chgData name="TSP MADHURI" userId="d5baabbced009fe2" providerId="LiveId" clId="{5C1935DC-7BAA-4BFD-8AE9-FAF66D151093}" dt="2026-09-15T10:00:08.859" v="147" actId="20577"/>
          <ac:spMkLst>
            <pc:docMk/>
            <pc:sldMk cId="3980090555" sldId="261"/>
            <ac:spMk id="2" creationId="{54D4AC2B-1702-695F-E0B5-9F6550F04B7D}"/>
          </ac:spMkLst>
        </pc:spChg>
      </pc:sldChg>
      <pc:sldChg chg="modSp new mod">
        <pc:chgData name="TSP MADHURI" userId="d5baabbced009fe2" providerId="LiveId" clId="{5C1935DC-7BAA-4BFD-8AE9-FAF66D151093}" dt="2026-09-15T10:00:56.631" v="184" actId="20577"/>
        <pc:sldMkLst>
          <pc:docMk/>
          <pc:sldMk cId="1396777043" sldId="262"/>
        </pc:sldMkLst>
        <pc:spChg chg="mod">
          <ac:chgData name="TSP MADHURI" userId="d5baabbced009fe2" providerId="LiveId" clId="{5C1935DC-7BAA-4BFD-8AE9-FAF66D151093}" dt="2026-09-15T10:00:56.631" v="184" actId="20577"/>
          <ac:spMkLst>
            <pc:docMk/>
            <pc:sldMk cId="1396777043" sldId="262"/>
            <ac:spMk id="2" creationId="{BDCEF2EB-DC8E-A39F-8C45-4CB81854799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27AFC0-00B8-4117-895C-3E834B171036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3476CA-421D-4B57-8942-5762D93F1A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164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5F3B8-DDEB-3931-BD30-FCDF92768B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0E52B7-3612-C42C-E3C4-1568700EDD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2A539-9977-5E0E-CDC1-067BB186F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549C3-E12B-4CC2-9FA1-D4C0643B7241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91C38-BEF3-AA2E-ACFE-DCF1543BE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CB7FA-8196-F586-E960-B5BAE429F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B3F1FD-0147-797C-0ED6-E694A2BD62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59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259C4-DC4A-CF70-25D2-F39535A1F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6C27E-0A06-D409-8884-852E74A29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AC31F-7BFD-CA38-00A7-A2FD01A0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15AD4-5B3F-78FD-DE66-C3F50AC63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0549F-8592-A2F0-A7A6-A1C45E9E6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81CCB4-DDFA-058A-AE03-5A3CFCA9F8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15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EAB08-E23E-771E-1FDE-DC7851594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36FC1-1DB6-A8A4-C315-834C3FFCF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65D3F-93C4-BE6A-B0D8-5AFF3E69A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BF378-8F16-492D-87B3-963C20ACF441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2169B-9903-41C3-CC1A-A773A925D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CC6B5-6988-9DF9-8223-C5EB677C9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3DABBD-F85F-360C-A546-D5E0B92597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256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988FF-7E75-1B89-7C11-7B6C180BD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E0077-B676-7850-AAD4-77689FB5B4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E4118E-9650-EED0-1592-D4AD00CF46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DD1BDD-D86C-6A53-CEF7-1AEC9AB1A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9781E-9150-4561-9F7C-01394C55C5AE}" type="datetime1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B15FF2-A4C5-135F-9FA1-A00A6BF9A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2FB8AA-FC6D-B278-7FFF-C52EF4307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064E1C-D746-419C-5FE6-033B95CAC3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26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900-8F42-8A20-E378-434465ED2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DB5D6-6D80-913C-77A3-83E1C2757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D7E712-FB4A-DBE7-7EE8-B34465C755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FC7C92-E667-0F30-6C26-267F10CBCB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31715A-AF86-785C-73F2-00FF9D5D32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01D6D5-269C-31AC-CC40-917E0E246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12896-961F-4F7A-B2DD-D0EFF57BA027}" type="datetime1">
              <a:rPr lang="en-IN" smtClean="0"/>
              <a:t>15-10-2026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0DFF97-DB90-A3DC-1A5F-E041ABA4F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DFEC1F-4C0D-B461-B76D-FAFE7A86B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0D765FD-6DB7-1155-27BC-BD0DB45299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133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9FB57-0CBB-0AA3-9BF0-2ED233797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2CE64-C359-3445-7AB9-29DE8577C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51132-6BA4-40BC-AB03-D6B9C4F193FC}" type="datetime1">
              <a:rPr lang="en-IN" smtClean="0"/>
              <a:t>15-10-2026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63F73F-0420-C605-3EFF-74CBBE1B7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6EE44D-529C-1AC9-123B-7EBF53FA6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A6640D-01A3-9B0C-80EF-F10DE42207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580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479728-5FED-202E-6651-A7474C32A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85D5E-B9E5-4C7E-88B1-43A66A7C3488}" type="datetime1">
              <a:rPr lang="en-IN" smtClean="0"/>
              <a:t>15-10-2026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F6D777-ECC4-1DAB-81FF-7D7AF3FF3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56A1D-0096-D4B4-2B11-1CDFE3317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60B416-1EF4-3CD6-8E26-DC636E7B37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129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E5010-2418-091A-429D-37E400ABA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91DC8-3F06-BF0E-8109-8C1FEDEAD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544A7E-4423-60E2-E6E9-AAF09976D0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3B07B-D8E2-C0AA-F7E4-545DF9791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E2A2-8283-469E-B4A1-D6877668ECFE}" type="datetime1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B3DF0-CC05-0B05-24D9-6663B5E1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AB53E2-0205-A987-5D45-0DFC51D89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6F4A6A-FE20-C82E-95DD-FA2A5FCB0B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276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B7E51-2E25-5BFC-2696-794A224B6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F9DC63-25C2-8B4F-3683-6B0A9BC756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4EBA80-D1E6-9786-229E-B9B70D9BD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0DED29-F47E-2534-AFB4-003A8091A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0A723-EDD4-4822-84BE-4B7F697B4E56}" type="datetime1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E6DE89-3F60-1B9B-0597-F389CAA72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0B78F6-7EC0-BF15-5CA1-F0159D796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256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38785-1FEB-0757-FEC8-6AA1CB86C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94473-1718-0D76-22B7-33E82D611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9B1E2-29EC-2F2E-B362-55E80C4D0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8764-2CC6-431B-B501-1DF197EE73CC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6D9E9-31F7-01F5-C19A-438C40773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E1B4F-5C80-EFB0-BA9F-8F17B8444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2412BD-D800-391F-9FB6-159E83E747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846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C43F02-0084-480F-2BA3-75A1C0102C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B22D9D-B106-6765-76CF-C9843EC19F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262E0-081B-BE3A-F92B-73DE583ED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EEFFA-3959-41FE-A774-B9B27FD8983C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9D4DC-613B-8105-F661-A37BB2AD0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46AAE-21DC-2AE1-CF07-91F73A4DF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544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948038-F901-EAD1-D5DB-03603E896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E2A14-F9FA-9B0B-5AA7-D785E09BA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56813-B660-C26F-CFEF-AF22C547F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0F4BF4-0D93-4F1E-82BB-778F1EDDD45F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697EB-16D9-74E1-1448-0CDC280711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42DC9-4178-3222-F3F2-C5EC792CA7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481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0CCFF-527E-4AC9-A45F-A8196F49E0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-274320"/>
            <a:ext cx="10750296" cy="4782312"/>
          </a:xfrm>
        </p:spPr>
        <p:txBody>
          <a:bodyPr>
            <a:normAutofit/>
          </a:bodyPr>
          <a:lstStyle/>
          <a:p>
            <a:pPr>
              <a:defRPr sz="2700" b="1">
                <a:solidFill>
                  <a:srgbClr val="144266"/>
                </a:solidFill>
                <a:latin typeface="Aptos"/>
              </a:defRPr>
            </a:pPr>
            <a:r>
              <a:rPr sz="6600" dirty="0"/>
              <a:t>HOSPITAL EMERGENCY ROOM</a:t>
            </a:r>
            <a:br>
              <a:rPr sz="6600" dirty="0"/>
            </a:br>
            <a:r>
              <a:rPr sz="6600" dirty="0"/>
              <a:t>TRIAGE SYSTEM</a:t>
            </a:r>
            <a:br>
              <a:rPr sz="6600" dirty="0"/>
            </a:br>
            <a:r>
              <a:rPr sz="6600" dirty="0"/>
              <a:t>JAVA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2AC95-AA7D-A76A-037F-6B2DB5A27E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50848" y="4700588"/>
            <a:ext cx="9144000" cy="1655762"/>
          </a:xfrm>
        </p:spPr>
        <p:txBody>
          <a:bodyPr/>
          <a:lstStyle/>
          <a:p>
            <a:pPr>
              <a:defRPr sz="1800" b="0">
                <a:solidFill>
                  <a:srgbClr val="233041"/>
                </a:solidFill>
                <a:latin typeface="Aptos"/>
              </a:defRPr>
            </a:pPr>
            <a:r>
              <a:rPr dirty="0"/>
              <a:t>TEAM NO – 6</a:t>
            </a:r>
            <a:br>
              <a:rPr dirty="0"/>
            </a:br>
            <a:r>
              <a:rPr dirty="0"/>
              <a:t>CHARAN  |  ROLL NO: 2620030058</a:t>
            </a:r>
            <a:br>
              <a:rPr dirty="0"/>
            </a:br>
            <a:r>
              <a:rPr dirty="0"/>
              <a:t>MIDHILESH  |  ROLL NO: 2620030084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7EDCEF-417A-3750-BB67-C2592E7FA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0750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71AF3-F02C-0F4C-0929-57F8B7535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2500" b="1">
                <a:solidFill>
                  <a:srgbClr val="144266"/>
                </a:solidFill>
                <a:latin typeface="Aptos"/>
              </a:defRPr>
            </a:pPr>
            <a:r>
              <a:rPr sz="3600" dirty="0"/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12F73-2B13-AB30-C0D8-CBA5CE2696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lIns="164592" tIns="91440" rIns="137160" bIns="73152"/>
          <a:lstStyle/>
          <a:p>
            <a:pPr>
              <a:spcAft>
                <a:spcPts val="800"/>
              </a:spcAft>
              <a:defRPr sz="1600">
                <a:solidFill>
                  <a:srgbClr val="233041"/>
                </a:solidFill>
                <a:latin typeface="Aptos"/>
              </a:defRPr>
            </a:pPr>
            <a:r>
              <a:rPr sz="2400" dirty="0"/>
              <a:t>The Hospital Emergency Room Triage System is an educational Java project that organizes sample patient records by an assigned urgency level.</a:t>
            </a:r>
            <a:endParaRPr lang="en-IN" sz="2400" dirty="0"/>
          </a:p>
          <a:p>
            <a:pPr>
              <a:spcAft>
                <a:spcPts val="800"/>
              </a:spcAft>
              <a:defRPr sz="1600">
                <a:solidFill>
                  <a:srgbClr val="233041"/>
                </a:solidFill>
                <a:latin typeface="Aptos"/>
              </a:defRPr>
            </a:pPr>
            <a:r>
              <a:rPr sz="2400" dirty="0"/>
              <a:t>The project is presented using the Java concepts shown in the supplied source files: basic program structure, control structures, methods, and arrays.</a:t>
            </a:r>
          </a:p>
          <a:p>
            <a:pPr>
              <a:spcAft>
                <a:spcPts val="800"/>
              </a:spcAft>
              <a:defRPr sz="1600">
                <a:solidFill>
                  <a:srgbClr val="233041"/>
                </a:solidFill>
                <a:latin typeface="Aptos"/>
              </a:defRPr>
            </a:pPr>
            <a:r>
              <a:rPr sz="2400" dirty="0"/>
              <a:t>A demonstration can classify records as Critical, Urgent, or Low Priority and display them in an understandable order.</a:t>
            </a:r>
          </a:p>
          <a:p>
            <a:pPr>
              <a:spcAft>
                <a:spcPts val="800"/>
              </a:spcAft>
              <a:defRPr sz="1600">
                <a:solidFill>
                  <a:srgbClr val="233041"/>
                </a:solidFill>
                <a:latin typeface="Aptos"/>
              </a:defRPr>
            </a:pPr>
            <a:r>
              <a:rPr sz="2400" dirty="0"/>
              <a:t>This is a classroom simulation only; real triage decisions must be made by trained healthcare professionals</a:t>
            </a:r>
            <a:r>
              <a:rPr dirty="0"/>
              <a:t>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9CFF38-D9B5-1B3E-0EC5-08CA2C213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000" b="0">
                <a:solidFill>
                  <a:srgbClr val="233041"/>
                </a:solidFill>
                <a:latin typeface="Aptos"/>
              </a:defRPr>
            </a:pPr>
            <a:r>
              <a:t>2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6338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4AC2B-1702-695F-E0B5-9F6550F04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500" b="1">
                <a:solidFill>
                  <a:srgbClr val="144266"/>
                </a:solidFill>
                <a:latin typeface="Aptos"/>
              </a:defRPr>
            </a:pPr>
            <a:r>
              <a:rPr dirty="0"/>
              <a:t>Understanding the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CF377-DEED-0D67-3271-7CBBBC860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lIns="164592" tIns="91440" rIns="137160" bIns="73152">
            <a:no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3041"/>
                </a:solidFill>
                <a:latin typeface="Aptos"/>
              </a:defRPr>
            </a:pPr>
            <a:r>
              <a:rPr sz="2400" dirty="0"/>
              <a:t>Emergency rooms may receive several patients at the same time, so a clear record of patient details and urgency can help demonstrate orderly processing.</a:t>
            </a:r>
            <a:endParaRPr lang="en-IN" sz="2400" dirty="0"/>
          </a:p>
          <a:p>
            <a:pPr>
              <a:spcAft>
                <a:spcPts val="800"/>
              </a:spcAft>
              <a:defRPr sz="1600">
                <a:solidFill>
                  <a:srgbClr val="233041"/>
                </a:solidFill>
                <a:latin typeface="Aptos"/>
              </a:defRPr>
            </a:pPr>
            <a:r>
              <a:rPr sz="2400" dirty="0"/>
              <a:t>Project goal: enter fictional patient information, assign a sample priority, and display patient records.</a:t>
            </a:r>
          </a:p>
          <a:p>
            <a:pPr>
              <a:spcAft>
                <a:spcPts val="800"/>
              </a:spcAft>
              <a:defRPr sz="1600">
                <a:solidFill>
                  <a:srgbClr val="233041"/>
                </a:solidFill>
                <a:latin typeface="Aptos"/>
              </a:defRPr>
            </a:pPr>
            <a:r>
              <a:rPr sz="2400" dirty="0"/>
              <a:t>Inputs: patient name, age, and a demonstration severity value.</a:t>
            </a:r>
          </a:p>
          <a:p>
            <a:pPr>
              <a:spcAft>
                <a:spcPts val="800"/>
              </a:spcAft>
              <a:defRPr sz="1600">
                <a:solidFill>
                  <a:srgbClr val="233041"/>
                </a:solidFill>
                <a:latin typeface="Aptos"/>
              </a:defRPr>
            </a:pPr>
            <a:r>
              <a:rPr sz="2400" dirty="0"/>
              <a:t>Output: patient details and a priority label, using a simple console-based Java program.</a:t>
            </a:r>
          </a:p>
          <a:p>
            <a:pPr>
              <a:spcAft>
                <a:spcPts val="800"/>
              </a:spcAft>
              <a:defRPr sz="1600">
                <a:solidFill>
                  <a:srgbClr val="233041"/>
                </a:solidFill>
                <a:latin typeface="Aptos"/>
              </a:defRPr>
            </a:pPr>
            <a:r>
              <a:rPr sz="2400" dirty="0"/>
              <a:t>The supplied files demonstrate Java building blocks; they do not contain a complete medical triage application.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261277-3D40-ACA2-AEC9-E9A0E9DC1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000" b="0">
                <a:solidFill>
                  <a:srgbClr val="233041"/>
                </a:solidFill>
                <a:latin typeface="Aptos"/>
              </a:defRPr>
            </a:pPr>
            <a:r>
              <a:t>3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0090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54CC5-4FD5-611A-4481-E878E281E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500" b="1">
                <a:solidFill>
                  <a:srgbClr val="144266"/>
                </a:solidFill>
                <a:latin typeface="Aptos"/>
              </a:defRPr>
            </a:pPr>
            <a:r>
              <a:t>CO 1 – Basic Java Program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B5369-B8D0-CB2C-61B6-348BDF6E4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lIns="164592" tIns="91440" rIns="137160" bIns="73152">
            <a:norm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3041"/>
                </a:solidFill>
                <a:latin typeface="Aptos"/>
              </a:defRPr>
            </a:pPr>
            <a:r>
              <a:rPr sz="2400" dirty="0"/>
              <a:t>Source file: SimpleJavaCode.java</a:t>
            </a:r>
            <a:endParaRPr lang="en-IN" sz="2400" dirty="0"/>
          </a:p>
          <a:p>
            <a:pPr>
              <a:spcAft>
                <a:spcPts val="800"/>
              </a:spcAft>
              <a:defRPr sz="1700">
                <a:solidFill>
                  <a:srgbClr val="233041"/>
                </a:solidFill>
                <a:latin typeface="Aptos"/>
              </a:defRPr>
            </a:pPr>
            <a:r>
              <a:rPr sz="2400" dirty="0"/>
              <a:t>A Java program contains a class and a main() method, where execution begins.</a:t>
            </a:r>
          </a:p>
          <a:p>
            <a:pPr>
              <a:spcAft>
                <a:spcPts val="800"/>
              </a:spcAft>
              <a:defRPr sz="1700">
                <a:solidFill>
                  <a:srgbClr val="233041"/>
                </a:solidFill>
                <a:latin typeface="Aptos"/>
              </a:defRPr>
            </a:pPr>
            <a:r>
              <a:rPr sz="2400" dirty="0" err="1"/>
              <a:t>System.out.println</a:t>
            </a:r>
            <a:r>
              <a:rPr sz="2400" dirty="0"/>
              <a:t>() displays text in the console.</a:t>
            </a:r>
          </a:p>
          <a:p>
            <a:pPr>
              <a:spcAft>
                <a:spcPts val="800"/>
              </a:spcAft>
              <a:defRPr sz="1700">
                <a:solidFill>
                  <a:srgbClr val="233041"/>
                </a:solidFill>
                <a:latin typeface="Aptos"/>
              </a:defRPr>
            </a:pPr>
            <a:r>
              <a:rPr sz="2400" dirty="0"/>
              <a:t>The supplied example prints “Hello, World!” and “This is my first Java program.”</a:t>
            </a:r>
          </a:p>
          <a:p>
            <a:pPr>
              <a:spcAft>
                <a:spcPts val="800"/>
              </a:spcAft>
              <a:defRPr sz="1700">
                <a:solidFill>
                  <a:srgbClr val="233041"/>
                </a:solidFill>
                <a:latin typeface="Aptos"/>
              </a:defRPr>
            </a:pPr>
            <a:r>
              <a:rPr sz="2400" dirty="0"/>
              <a:t>Project connection: the triage program can use the same main() method and console output to show its title and menu.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33CBD-9819-BA1C-8720-D89215B1A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000" b="0">
                <a:solidFill>
                  <a:srgbClr val="233041"/>
                </a:solidFill>
                <a:latin typeface="Aptos"/>
              </a:defRPr>
            </a:pPr>
            <a:r>
              <a:t>4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4242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4FDF4-A21D-11D6-CA7A-382058E2F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500" b="1">
                <a:solidFill>
                  <a:srgbClr val="144266"/>
                </a:solidFill>
                <a:latin typeface="Aptos"/>
              </a:defRPr>
            </a:pPr>
            <a:r>
              <a:t>CO 2 – Control Structures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27864-8698-BA0E-D44D-3E693AAB4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lIns="164592" tIns="91440" rIns="137160" bIns="73152">
            <a:norm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3041"/>
                </a:solidFill>
                <a:latin typeface="Aptos"/>
              </a:defRPr>
            </a:pPr>
            <a:r>
              <a:rPr sz="2400" dirty="0"/>
              <a:t>Source file: ControlStructures.java</a:t>
            </a:r>
            <a:endParaRPr lang="en-IN" sz="2400" dirty="0"/>
          </a:p>
          <a:p>
            <a:pPr>
              <a:spcAft>
                <a:spcPts val="800"/>
              </a:spcAft>
              <a:defRPr sz="1700">
                <a:solidFill>
                  <a:srgbClr val="233041"/>
                </a:solidFill>
                <a:latin typeface="Aptos"/>
              </a:defRPr>
            </a:pPr>
            <a:r>
              <a:rPr sz="2400" dirty="0"/>
              <a:t>if–else checks whether the value 7 is even or odd using the remainder operator (%).</a:t>
            </a:r>
          </a:p>
          <a:p>
            <a:pPr>
              <a:spcAft>
                <a:spcPts val="800"/>
              </a:spcAft>
              <a:defRPr sz="1700">
                <a:solidFill>
                  <a:srgbClr val="233041"/>
                </a:solidFill>
                <a:latin typeface="Aptos"/>
              </a:defRPr>
            </a:pPr>
            <a:r>
              <a:rPr sz="2400" dirty="0"/>
              <a:t>The for loop counts from 1 to 5; the while loop counts down from 5 to 1.</a:t>
            </a:r>
          </a:p>
          <a:p>
            <a:pPr>
              <a:spcAft>
                <a:spcPts val="800"/>
              </a:spcAft>
              <a:defRPr sz="1700">
                <a:solidFill>
                  <a:srgbClr val="233041"/>
                </a:solidFill>
                <a:latin typeface="Aptos"/>
              </a:defRPr>
            </a:pPr>
            <a:r>
              <a:rPr sz="2400" dirty="0"/>
              <a:t>Conditions choose between different actions, while loops repeat actions.</a:t>
            </a:r>
          </a:p>
          <a:p>
            <a:pPr>
              <a:spcAft>
                <a:spcPts val="800"/>
              </a:spcAft>
              <a:defRPr sz="1700">
                <a:solidFill>
                  <a:srgbClr val="233041"/>
                </a:solidFill>
                <a:latin typeface="Aptos"/>
              </a:defRPr>
            </a:pPr>
            <a:r>
              <a:rPr sz="2400" dirty="0"/>
              <a:t>Project connection: if–else or switch can classify a sample severity value, and loops can process multiple patient records.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2284BF-AE73-C39E-0CCD-CD938FF84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000" b="0">
                <a:solidFill>
                  <a:srgbClr val="233041"/>
                </a:solidFill>
                <a:latin typeface="Aptos"/>
              </a:defRPr>
            </a:pPr>
            <a:r>
              <a:t>5</a:t>
            </a:r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7315200" y="5394960"/>
            <a:ext cx="3657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45378"/>
                </a:solidFill>
                <a:latin typeface="Aptos"/>
              </a:defRPr>
            </a:pPr>
            <a:r>
              <a:t>1 Critical  •  2 Urgent  •  3 Low Priority</a:t>
            </a:r>
          </a:p>
        </p:txBody>
      </p:sp>
    </p:spTree>
    <p:extLst>
      <p:ext uri="{BB962C8B-B14F-4D97-AF65-F5344CB8AC3E}">
        <p14:creationId xmlns:p14="http://schemas.microsoft.com/office/powerpoint/2010/main" val="4178111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BDDFB-DFEC-7A21-D889-17965A225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500" b="1">
                <a:solidFill>
                  <a:srgbClr val="144266"/>
                </a:solidFill>
                <a:latin typeface="Aptos"/>
              </a:defRPr>
            </a:pPr>
            <a:r>
              <a:t>CO 3 –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ACD64-BF58-761A-504E-C381351EE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lIns="164592" tIns="91440" rIns="137160" bIns="73152"/>
          <a:lstStyle/>
          <a:p>
            <a:pPr>
              <a:spcAft>
                <a:spcPts val="800"/>
              </a:spcAft>
              <a:defRPr sz="1600">
                <a:solidFill>
                  <a:srgbClr val="233041"/>
                </a:solidFill>
                <a:latin typeface="Aptos"/>
              </a:defRPr>
            </a:pPr>
            <a:r>
              <a:rPr sz="2400" dirty="0"/>
              <a:t>Source file: Methods.java</a:t>
            </a:r>
            <a:endParaRPr lang="en-IN" sz="2400" dirty="0"/>
          </a:p>
          <a:p>
            <a:pPr>
              <a:spcAft>
                <a:spcPts val="800"/>
              </a:spcAft>
              <a:defRPr sz="1600">
                <a:solidFill>
                  <a:srgbClr val="233041"/>
                </a:solidFill>
                <a:latin typeface="Aptos"/>
              </a:defRPr>
            </a:pPr>
            <a:r>
              <a:rPr sz="2400" dirty="0"/>
              <a:t>The program calculates the factorial of 5 in two ways: iterative and recursive.</a:t>
            </a:r>
          </a:p>
          <a:p>
            <a:pPr>
              <a:spcAft>
                <a:spcPts val="800"/>
              </a:spcAft>
              <a:defRPr sz="1600">
                <a:solidFill>
                  <a:srgbClr val="233041"/>
                </a:solidFill>
                <a:latin typeface="Aptos"/>
              </a:defRPr>
            </a:pPr>
            <a:r>
              <a:rPr sz="2400" dirty="0" err="1"/>
              <a:t>factorialIterative</a:t>
            </a:r>
            <a:r>
              <a:rPr sz="2400" dirty="0"/>
              <a:t>() uses a for loop to multiply values from 1 to n.</a:t>
            </a:r>
          </a:p>
          <a:p>
            <a:pPr>
              <a:spcAft>
                <a:spcPts val="800"/>
              </a:spcAft>
              <a:defRPr sz="1600">
                <a:solidFill>
                  <a:srgbClr val="233041"/>
                </a:solidFill>
                <a:latin typeface="Aptos"/>
              </a:defRPr>
            </a:pPr>
            <a:r>
              <a:rPr sz="2400" dirty="0" err="1"/>
              <a:t>factorialRecursive</a:t>
            </a:r>
            <a:r>
              <a:rPr sz="2400" dirty="0"/>
              <a:t>() calls itself with n − 1 and stops at the base case n == 0.</a:t>
            </a:r>
          </a:p>
          <a:p>
            <a:pPr>
              <a:spcAft>
                <a:spcPts val="800"/>
              </a:spcAft>
              <a:defRPr sz="1600">
                <a:solidFill>
                  <a:srgbClr val="233041"/>
                </a:solidFill>
                <a:latin typeface="Aptos"/>
              </a:defRPr>
            </a:pPr>
            <a:r>
              <a:rPr sz="2400" dirty="0"/>
              <a:t>Both methods return 120 for the input 5.</a:t>
            </a:r>
          </a:p>
          <a:p>
            <a:pPr>
              <a:spcAft>
                <a:spcPts val="800"/>
              </a:spcAft>
              <a:defRPr sz="1600">
                <a:solidFill>
                  <a:srgbClr val="233041"/>
                </a:solidFill>
                <a:latin typeface="Aptos"/>
              </a:defRPr>
            </a:pPr>
            <a:r>
              <a:rPr sz="2400" dirty="0"/>
              <a:t>Project connection: separate methods can be used for adding, displaying, and classifying patient records</a:t>
            </a:r>
            <a:r>
              <a:rPr dirty="0"/>
              <a:t>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DE39BA-552D-5E87-9C16-8B5724296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000" b="0">
                <a:solidFill>
                  <a:srgbClr val="233041"/>
                </a:solidFill>
                <a:latin typeface="Aptos"/>
              </a:defRPr>
            </a:pPr>
            <a:r>
              <a:t>6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9875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E591A-E528-51A2-6477-BF5075B32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500" b="1">
                <a:solidFill>
                  <a:srgbClr val="144266"/>
                </a:solidFill>
                <a:latin typeface="Aptos"/>
              </a:defRPr>
            </a:pPr>
            <a:r>
              <a:t>CO 4 – One-Dimensional and Two-Dimensional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763C4-B644-2CBF-4AE1-87632858C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lIns="164592" tIns="91440" rIns="137160" bIns="73152"/>
          <a:lstStyle/>
          <a:p>
            <a:pPr>
              <a:spcAft>
                <a:spcPts val="800"/>
              </a:spcAft>
              <a:defRPr sz="1600">
                <a:solidFill>
                  <a:srgbClr val="233041"/>
                </a:solidFill>
                <a:latin typeface="Aptos"/>
              </a:defRPr>
            </a:pPr>
            <a:r>
              <a:rPr sz="2400" dirty="0"/>
              <a:t>Source file: ArraysDemo.java</a:t>
            </a:r>
            <a:endParaRPr lang="en-IN" sz="2400" dirty="0"/>
          </a:p>
          <a:p>
            <a:pPr>
              <a:spcAft>
                <a:spcPts val="800"/>
              </a:spcAft>
              <a:defRPr sz="1600">
                <a:solidFill>
                  <a:srgbClr val="233041"/>
                </a:solidFill>
                <a:latin typeface="Aptos"/>
              </a:defRPr>
            </a:pPr>
            <a:r>
              <a:rPr sz="2400" dirty="0"/>
              <a:t>The 1D array marks stores five values: 85, 90, 78, 92, and 60.</a:t>
            </a:r>
          </a:p>
          <a:p>
            <a:pPr>
              <a:spcAft>
                <a:spcPts val="800"/>
              </a:spcAft>
              <a:defRPr sz="1600">
                <a:solidFill>
                  <a:srgbClr val="233041"/>
                </a:solidFill>
                <a:latin typeface="Aptos"/>
              </a:defRPr>
            </a:pPr>
            <a:r>
              <a:rPr sz="2400" dirty="0"/>
              <a:t>A for loop accesses each value using its index and </a:t>
            </a:r>
            <a:r>
              <a:rPr sz="2400" dirty="0" err="1"/>
              <a:t>marks.length</a:t>
            </a:r>
            <a:r>
              <a:rPr sz="2400" dirty="0"/>
              <a:t>.</a:t>
            </a:r>
          </a:p>
          <a:p>
            <a:pPr>
              <a:spcAft>
                <a:spcPts val="800"/>
              </a:spcAft>
              <a:defRPr sz="1600">
                <a:solidFill>
                  <a:srgbClr val="233041"/>
                </a:solidFill>
                <a:latin typeface="Aptos"/>
              </a:defRPr>
            </a:pPr>
            <a:r>
              <a:rPr sz="2400" dirty="0"/>
              <a:t>The 2D array matrix contains three rows and two columns: {1, 2}, {3, 4}, and {5, 6}.</a:t>
            </a:r>
          </a:p>
          <a:p>
            <a:pPr>
              <a:spcAft>
                <a:spcPts val="800"/>
              </a:spcAft>
              <a:defRPr sz="1600">
                <a:solidFill>
                  <a:srgbClr val="233041"/>
                </a:solidFill>
                <a:latin typeface="Aptos"/>
              </a:defRPr>
            </a:pPr>
            <a:r>
              <a:rPr sz="2400" dirty="0"/>
              <a:t>Nested loops visit each row and column and print the matrix.</a:t>
            </a:r>
          </a:p>
          <a:p>
            <a:pPr>
              <a:spcAft>
                <a:spcPts val="800"/>
              </a:spcAft>
              <a:defRPr sz="1600">
                <a:solidFill>
                  <a:srgbClr val="233041"/>
                </a:solidFill>
                <a:latin typeface="Aptos"/>
              </a:defRPr>
            </a:pPr>
            <a:r>
              <a:rPr sz="2400" dirty="0"/>
              <a:t>Project connection: an array can store several sample patient records in a small demonstration</a:t>
            </a:r>
            <a:r>
              <a:rPr dirty="0"/>
              <a:t>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53250B-C6BE-E742-A34D-6B496E77E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000" b="0">
                <a:solidFill>
                  <a:srgbClr val="233041"/>
                </a:solidFill>
                <a:latin typeface="Aptos"/>
              </a:defRPr>
            </a:pPr>
            <a:r>
              <a:t>7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4974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4DDC3-4D1F-21CF-55F4-04AC539E2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500" b="1">
                <a:solidFill>
                  <a:srgbClr val="144266"/>
                </a:solidFill>
                <a:latin typeface="Aptos"/>
              </a:defRPr>
            </a:pPr>
            <a:r>
              <a:t>CO 5 – Applying the Concepts to the Triage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2B8C9-B5A8-6FD1-7D16-20BF4FBD7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lIns="164592" tIns="91440" rIns="137160" bIns="73152">
            <a:norm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3041"/>
                </a:solidFill>
                <a:latin typeface="Aptos"/>
              </a:defRPr>
            </a:pPr>
            <a:r>
              <a:rPr sz="2400" dirty="0"/>
              <a:t>Use a class and main() method to start the application.</a:t>
            </a:r>
            <a:endParaRPr lang="en-IN" sz="2400" dirty="0"/>
          </a:p>
          <a:p>
            <a:pPr>
              <a:spcAft>
                <a:spcPts val="800"/>
              </a:spcAft>
              <a:defRPr sz="1600">
                <a:solidFill>
                  <a:srgbClr val="233041"/>
                </a:solidFill>
                <a:latin typeface="Aptos"/>
              </a:defRPr>
            </a:pPr>
            <a:r>
              <a:rPr sz="2400" dirty="0"/>
              <a:t>Use variables to hold each fictional patient's details and assigned demonstration severity.</a:t>
            </a:r>
          </a:p>
          <a:p>
            <a:pPr>
              <a:spcAft>
                <a:spcPts val="800"/>
              </a:spcAft>
              <a:defRPr sz="1600">
                <a:solidFill>
                  <a:srgbClr val="233041"/>
                </a:solidFill>
                <a:latin typeface="Aptos"/>
              </a:defRPr>
            </a:pPr>
            <a:r>
              <a:rPr sz="2400" dirty="0"/>
              <a:t>Use conditional statements to map severity values to labels: 1 = Critical, 2 = Urgent, 3 = Low Priority.</a:t>
            </a:r>
          </a:p>
          <a:p>
            <a:pPr>
              <a:spcAft>
                <a:spcPts val="800"/>
              </a:spcAft>
              <a:defRPr sz="1600">
                <a:solidFill>
                  <a:srgbClr val="233041"/>
                </a:solidFill>
                <a:latin typeface="Aptos"/>
              </a:defRPr>
            </a:pPr>
            <a:r>
              <a:rPr sz="2400" dirty="0"/>
              <a:t>Use methods to keep tasks separate, such as adding a patient and displaying records.</a:t>
            </a:r>
          </a:p>
          <a:p>
            <a:pPr>
              <a:spcAft>
                <a:spcPts val="800"/>
              </a:spcAft>
              <a:defRPr sz="1600">
                <a:solidFill>
                  <a:srgbClr val="233041"/>
                </a:solidFill>
                <a:latin typeface="Aptos"/>
              </a:defRPr>
            </a:pPr>
            <a:r>
              <a:rPr sz="2400" dirty="0"/>
              <a:t>This slide describes a proposed project design; no complete triage source file was included in the uploaded examples.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2EFFB7-2020-7F21-31F3-A08A79B5E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000" b="0">
                <a:solidFill>
                  <a:srgbClr val="233041"/>
                </a:solidFill>
                <a:latin typeface="Aptos"/>
              </a:defRPr>
            </a:pPr>
            <a:r>
              <a:t>8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7368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7C36F-68C1-38D5-BFA7-072938C7F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500" b="1">
                <a:solidFill>
                  <a:srgbClr val="144266"/>
                </a:solidFill>
                <a:latin typeface="Aptos"/>
              </a:defRPr>
            </a:pPr>
            <a:r>
              <a:t>CO 6 – Program Flow and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AB529-5F96-F28F-CD50-8BFE419EE3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lIns="164592" tIns="91440" rIns="137160" bIns="73152">
            <a:norm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3041"/>
                </a:solidFill>
                <a:latin typeface="Aptos"/>
              </a:defRPr>
            </a:pPr>
            <a:r>
              <a:rPr sz="2400" dirty="0"/>
              <a:t>Start the program and display the project menu.</a:t>
            </a:r>
            <a:endParaRPr lang="en-IN" sz="2400" dirty="0"/>
          </a:p>
          <a:p>
            <a:pPr>
              <a:spcAft>
                <a:spcPts val="800"/>
              </a:spcAft>
              <a:defRPr sz="1600">
                <a:solidFill>
                  <a:srgbClr val="233041"/>
                </a:solidFill>
                <a:latin typeface="Aptos"/>
              </a:defRPr>
            </a:pPr>
            <a:r>
              <a:rPr sz="2400" dirty="0"/>
              <a:t>Enter fictional patient details and validate the demonstration severity value.</a:t>
            </a:r>
          </a:p>
          <a:p>
            <a:pPr>
              <a:spcAft>
                <a:spcPts val="800"/>
              </a:spcAft>
              <a:defRPr sz="1600">
                <a:solidFill>
                  <a:srgbClr val="233041"/>
                </a:solidFill>
                <a:latin typeface="Aptos"/>
              </a:defRPr>
            </a:pPr>
            <a:r>
              <a:rPr sz="2400" dirty="0"/>
              <a:t>Store and display records using an array or another suitable collection.</a:t>
            </a:r>
          </a:p>
          <a:p>
            <a:pPr>
              <a:spcAft>
                <a:spcPts val="800"/>
              </a:spcAft>
              <a:defRPr sz="1600">
                <a:solidFill>
                  <a:srgbClr val="233041"/>
                </a:solidFill>
                <a:latin typeface="Aptos"/>
              </a:defRPr>
            </a:pPr>
            <a:r>
              <a:rPr sz="2400" dirty="0"/>
              <a:t>Test cases: each severity value, multiple records, invalid numeric input, and empty patient name.</a:t>
            </a:r>
          </a:p>
          <a:p>
            <a:pPr>
              <a:spcAft>
                <a:spcPts val="800"/>
              </a:spcAft>
              <a:defRPr sz="1600">
                <a:solidFill>
                  <a:srgbClr val="233041"/>
                </a:solidFill>
                <a:latin typeface="Aptos"/>
              </a:defRPr>
            </a:pPr>
            <a:r>
              <a:rPr sz="2400" dirty="0"/>
              <a:t>Expected demonstration order: Critical, then Urgent, then Low Priority.</a:t>
            </a:r>
          </a:p>
          <a:p>
            <a:pPr>
              <a:spcAft>
                <a:spcPts val="800"/>
              </a:spcAft>
              <a:defRPr sz="1600">
                <a:solidFill>
                  <a:srgbClr val="233041"/>
                </a:solidFill>
                <a:latin typeface="Aptos"/>
              </a:defRPr>
            </a:pPr>
            <a:r>
              <a:rPr sz="2400" dirty="0"/>
              <a:t>The four uploaded Java files do not include a complete triage implementation or test results.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D618D2-09FF-1F94-1B2A-BA5BD90DF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000" b="0">
                <a:solidFill>
                  <a:srgbClr val="233041"/>
                </a:solidFill>
                <a:latin typeface="Aptos"/>
              </a:defRPr>
            </a:pPr>
            <a:r>
              <a:t>9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7117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AD3A7-F925-7472-F39D-15B33FC20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500" b="1">
                <a:solidFill>
                  <a:srgbClr val="144266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290F1-736B-3136-6FB3-89FC4E638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lIns="164592" tIns="91440" rIns="137160" bIns="73152">
            <a:no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3041"/>
                </a:solidFill>
                <a:latin typeface="Aptos"/>
              </a:defRPr>
            </a:pPr>
            <a:r>
              <a:rPr sz="2400" dirty="0"/>
              <a:t>The supplied Java examples cover basic program structure, conditional statements, loops, iterative and recursive methods, and 1D/2D arrays.</a:t>
            </a:r>
            <a:endParaRPr lang="en-IN" sz="2400" dirty="0"/>
          </a:p>
          <a:p>
            <a:pPr>
              <a:spcAft>
                <a:spcPts val="800"/>
              </a:spcAft>
              <a:defRPr sz="1600">
                <a:solidFill>
                  <a:srgbClr val="233041"/>
                </a:solidFill>
                <a:latin typeface="Aptos"/>
              </a:defRPr>
            </a:pPr>
            <a:r>
              <a:rPr sz="2400" dirty="0"/>
              <a:t>These concepts can form the foundation of a simple Hospital Emergency Room Triage System demonstration.</a:t>
            </a:r>
          </a:p>
          <a:p>
            <a:pPr>
              <a:spcAft>
                <a:spcPts val="800"/>
              </a:spcAft>
              <a:defRPr sz="1600">
                <a:solidFill>
                  <a:srgbClr val="233041"/>
                </a:solidFill>
                <a:latin typeface="Aptos"/>
              </a:defRPr>
            </a:pPr>
            <a:r>
              <a:rPr sz="2400" dirty="0"/>
              <a:t>Methods improve organization, loops support repeated processing, and arrays hold multiple values.</a:t>
            </a:r>
          </a:p>
          <a:p>
            <a:pPr>
              <a:spcAft>
                <a:spcPts val="800"/>
              </a:spcAft>
              <a:defRPr sz="1600">
                <a:solidFill>
                  <a:srgbClr val="233041"/>
                </a:solidFill>
                <a:latin typeface="Aptos"/>
              </a:defRPr>
            </a:pPr>
            <a:r>
              <a:rPr sz="2400" dirty="0"/>
              <a:t>The next step is to implement and test the complete triage program using fictional data only.</a:t>
            </a:r>
          </a:p>
          <a:p>
            <a:pPr>
              <a:spcAft>
                <a:spcPts val="800"/>
              </a:spcAft>
              <a:defRPr sz="1600">
                <a:solidFill>
                  <a:srgbClr val="233041"/>
                </a:solidFill>
                <a:latin typeface="Aptos"/>
              </a:defRPr>
            </a:pPr>
            <a:r>
              <a:rPr sz="2400" dirty="0"/>
              <a:t>This project is for academic learning and must not be used for real medical decisions.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92BF1E-562C-F1F9-8BD5-71BDFB343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000" b="0">
                <a:solidFill>
                  <a:srgbClr val="233041"/>
                </a:solidFill>
                <a:latin typeface="Aptos"/>
              </a:defRPr>
            </a:pPr>
            <a:r>
              <a:t>10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4964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77661-8074-79B2-B035-E36DFB309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500" b="1">
                <a:solidFill>
                  <a:srgbClr val="144266"/>
                </a:solidFill>
                <a:latin typeface="Aptos"/>
              </a:defRPr>
            </a:pPr>
            <a:r>
              <a:t>Screenshots / Sample Output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50197-AF06-5AEF-7EEE-2BB7A4AD9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lIns="164592" tIns="91440" rIns="137160" bIns="73152"/>
          <a:lstStyle/>
          <a:p>
            <a:pPr>
              <a:spcAft>
                <a:spcPts val="800"/>
              </a:spcAft>
              <a:defRPr sz="1600" b="1">
                <a:solidFill>
                  <a:srgbClr val="145378"/>
                </a:solidFill>
                <a:latin typeface="Aptos"/>
              </a:defRPr>
            </a:pPr>
            <a:r>
              <a:rPr dirty="0"/>
              <a:t>Optional triage mock-up (illustrative only):</a:t>
            </a:r>
          </a:p>
          <a:p>
            <a:pPr>
              <a:spcAft>
                <a:spcPts val="800"/>
              </a:spcAft>
              <a:defRPr sz="1600">
                <a:solidFill>
                  <a:srgbClr val="233041"/>
                </a:solidFill>
                <a:latin typeface="Aptos"/>
              </a:defRPr>
            </a:pPr>
            <a:r>
              <a:rPr sz="4000" dirty="0"/>
              <a:t>Patient: Asha | Severity: 1 | Priority: CRITICAL</a:t>
            </a:r>
          </a:p>
          <a:p>
            <a:pPr>
              <a:spcAft>
                <a:spcPts val="800"/>
              </a:spcAft>
              <a:defRPr sz="1600">
                <a:solidFill>
                  <a:srgbClr val="233041"/>
                </a:solidFill>
                <a:latin typeface="Aptos"/>
              </a:defRPr>
            </a:pPr>
            <a:r>
              <a:rPr sz="4000" dirty="0"/>
              <a:t>Patient: Kiran | Severity: 2 | Priority: URGENT</a:t>
            </a:r>
          </a:p>
          <a:p>
            <a:pPr>
              <a:spcAft>
                <a:spcPts val="800"/>
              </a:spcAft>
              <a:defRPr sz="1600">
                <a:solidFill>
                  <a:srgbClr val="233041"/>
                </a:solidFill>
                <a:latin typeface="Aptos"/>
              </a:defRPr>
            </a:pPr>
            <a:r>
              <a:rPr sz="4000" dirty="0"/>
              <a:t>Patient: Dev | Severity: 3 | Priority: LOW PRIORITY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B251AB-4887-6558-97BB-1B1D91803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000" b="0">
                <a:solidFill>
                  <a:srgbClr val="233041"/>
                </a:solidFill>
                <a:latin typeface="Aptos"/>
              </a:defRPr>
            </a:pPr>
            <a:r>
              <a:t>11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5298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FAAA38-30EA-05A0-6688-BAED9C89F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85D5E-B9E5-4C7E-88B1-43A66A7C3488}" type="datetime1">
              <a:rPr lang="en-IN" smtClean="0"/>
              <a:t>15-10-2026</a:t>
            </a:fld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FA997E-36AE-2015-5395-69F27181B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12</a:t>
            </a:fld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C3BD66-330C-80C2-A899-7DAAEDA7D96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b="1" dirty="0"/>
              <a:t>THANKYOU</a:t>
            </a:r>
            <a:endParaRPr lang="en-IN" sz="4400" b="1" dirty="0"/>
          </a:p>
        </p:txBody>
      </p:sp>
    </p:spTree>
    <p:extLst>
      <p:ext uri="{BB962C8B-B14F-4D97-AF65-F5344CB8AC3E}">
        <p14:creationId xmlns:p14="http://schemas.microsoft.com/office/powerpoint/2010/main" val="2814095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898</Words>
  <Application>Microsoft Office PowerPoint</Application>
  <PresentationFormat>Widescreen</PresentationFormat>
  <Paragraphs>78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HOSPITAL EMERGENCY ROOM TRIAGE SYSTEM JAVA PROGRAMMING</vt:lpstr>
      <vt:lpstr>Abstract</vt:lpstr>
      <vt:lpstr>Understanding the Problem Statement</vt:lpstr>
      <vt:lpstr>CO 1 – Basic Java Program Structure</vt:lpstr>
      <vt:lpstr>CO 2 – Control Structures</vt:lpstr>
      <vt:lpstr>CO 3 – Methods</vt:lpstr>
      <vt:lpstr>CO 4 – One-Dimensional and Two-Dimensional Arrays</vt:lpstr>
      <vt:lpstr>CO 5 – Applying the Concepts to the Triage Project</vt:lpstr>
      <vt:lpstr>CO 6 – Program Flow and Testing</vt:lpstr>
      <vt:lpstr>Conclusion</vt:lpstr>
      <vt:lpstr>Screenshots / Sample Output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TSP MADHURI</dc:creator>
  <cp:lastModifiedBy>sai midhilesh</cp:lastModifiedBy>
  <cp:revision>5</cp:revision>
  <dcterms:created xsi:type="dcterms:W3CDTF">2026-09-15T09:57:10Z</dcterms:created>
  <dcterms:modified xsi:type="dcterms:W3CDTF">2026-10-15T14:27:25Z</dcterms:modified>
</cp:coreProperties>
</file>